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Buenos días. Soy Alain Blanquies Marco y presento GestorTaller, mi proyecto de fin de ciclo de DAM. Es una aplicacion web de uso local para gestionar el dia a dia de un taller de coches. En unos quince minutos os cuento el problema que resuelve, como esta construida y os la enseño funcionando. (~1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Hoy muchos talleres pequeños se gestionan con papel y fichas sueltas. Eso obliga a reescribir los datos del cliente cada vez, hace dificil consultar que se le hizo antes a un coche y da poca visibilidad de que vehiculos estan pendientes de entregar. Sobre esa situacion es donde tiene sentido mi proyecto. (~1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GestorTaller es una aplicacion web que se ejecuta en el propio taller, sin depender de internet. Gestiona clientes, vehiculos y ordenes de trabajo, y su salida principal es el resguardo de deposito en PDF, listo para imprimir o descargar. Es generica: para un taller real solo se cambia un fichero de configuracion. (~1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 marque cuatro objetivos medibles: digitalizar la ficha de trabajo, generar el resguardo en PDF de forma automatica, evitar volver a escribir datos ya conocidos mediante autorrelleno por matricula, y conseguir que se ejecute sin instalar nada, con un doble clic. Los cuatro estan cumplidos y los enseño en la demo. (~1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backend es Python con Flask. Para los datos uso SQLite con el modulo sqlite3, sin ORM, para escribir yo el SQL. La interfaz es HTML, CSS y JavaScript con Bootstrap, y las graficas con Chart.js. El PDF lo genera ReportLab en memoria, sin ficheros temporales. Y para distribuirlo uso Waitress como servidor y PyInstaller para el ejecutable. (~1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aplicacion se organiza por capas. La capa de modelos accede a los datos, una por tabla. Las rutas son los controladores, repartidos en seis Blueprints de Flask. Los servicios contienen la logica de negocio: validaciones, generacion del PDF, CSV y fotos. Y las vistas son las plantillas Jinja2. Asi cada parte hace una sola cosa y el codigo es facil de mantener. (~1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modelo sigue esta jerarquia: un cliente tiene vehiculos, cada vehiculo tiene incidencias u ordenes, y cada incidencia tiene sus lineas de reparacion y sus fotos. La matricula es unica, identifica al coche. El estado esta limitado por una restriccion CHECK a cuatro valores. Y al borrar una incidencia se borran en cascada sus reparaciones y sus fotos, para no dejar datos huerfanos. De cada foto, en la base solo guardo el nombre del archivo; la imagen vive en disco. (~1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[CAMBIO A LA APLICACION] Guion: 1) ficha nueva escribiendo una matricula conocida -&gt; autorrelleno (aviso verde). 2) subo dos fotos y se ven las miniaturas. 3) genero el resguardo y descargo el PDF. 4) muevo la ficha por los estados (recepcionado -&gt; en reparacion -&gt; terminado -&gt; entregado). 5) enseño agenda (vencidas/hoy/proximas) e historial con el buscador. 6) vuelvo al inicio para las graficas. [Si algo falla, lo explico de palabra y continuo]. (~4-5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decisiones que me parecen las que dan nota. Primera: la validacion que cuenta esta en el servidor, no solo en JavaScript; valido la letra de control del DNI y el formato de la matricula española, ademas de codigo postal y telefono. Segunda: la seguridad, con consultas siempre parametrizadas para evitar inyeccion de SQL y transacciones para que, si falla un paso al guardar la ficha, se deshaga todo. Tercera: el empaquetado a .exe para que lo ejecuteis con un doble clic. (~1,5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conclusion, el proyecto cumple los objetivos: digitaliza la ficha, genera el PDF, autorrellena y se ejecuta sin instalar. Lo que mas he aprendido es a estructurar una app por capas, a cuidar la seguridad de los datos y a empaquetar para distribuir. De cara al futuro, las mejoras realistas serian añadir un login de usuarios, un control de precios y piezas, y graficas mas completas con ingresos semanales, mensuales y perdidas. (~1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 hasta aqui. Como nota de transparencia, conte con el apoyo puntual de un asistente de IA en la hoja de estilos CSS, en la plantilla del PDF del resguardo y en el empaquetado a .exe; el resto es trabajo propio. Muchas gracias, quedo a vuestra disposicion para las preguntas. (~0,5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07B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4000"/>
          </a:blip>
          <a:stretch>
            <a:fillRect/>
          </a:stretch>
        </p:blipFill>
        <p:spPr>
          <a:xfrm>
            <a:off x="5989320" y="1828800"/>
            <a:ext cx="3291840" cy="3291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FIN DE GRADO · DAM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94360" y="1280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GestorTaller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64008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FFF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local de un taller de automóviles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40080" y="324612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Alumno:  </a:t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Alain Blanquies Marco</a:t>
            </a:r>
            <a:pPr algn="l" indent="0" marL="0">
              <a:lnSpc>
                <a:spcPct val="125000"/>
              </a:lnSpc>
              <a:buNone/>
            </a:pP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Aplicaciones Multiplataforma (DAM) · 2º curso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Centro:  </a:t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CESTE Centro Universitario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Tutor:  </a:t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Jaime González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30352" cy="530352"/>
          </a:xfrm>
          <a:prstGeom prst="ellipse">
            <a:avLst/>
          </a:prstGeom>
          <a:solidFill>
            <a:srgbClr val="E07B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45720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274320"/>
            <a:ext cx="7543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FFF4E6"/>
          </a:solidFill>
          <a:ln w="12700">
            <a:solidFill>
              <a:srgbClr val="F1DEC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58368" y="143560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D9BC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545336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8368" y="1947672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Papel y libretas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58368" y="2295144"/>
            <a:ext cx="15910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sueltas que se pierden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2651760" y="1234440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FFF4E6"/>
          </a:solidFill>
          <a:ln w="12700">
            <a:solidFill>
              <a:srgbClr val="F1DEC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852928" y="143560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D9BC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656" y="154533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852928" y="1947672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historial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2852928" y="2295144"/>
            <a:ext cx="15910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se le hizo antes al coche?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846320" y="1234440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FFF4E6"/>
          </a:solidFill>
          <a:ln w="12700">
            <a:solidFill>
              <a:srgbClr val="F1DEC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5047488" y="143560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D9BC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216" y="15453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047488" y="1947672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a mano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047488" y="2295144"/>
            <a:ext cx="15910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cliente, una y otra vez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7040880" y="1234440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FFF4E6"/>
          </a:solidFill>
          <a:ln w="12700">
            <a:solidFill>
              <a:srgbClr val="F1DEC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242048" y="143560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D9BC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1776" y="1545336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42048" y="1947672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control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7242048" y="2295144"/>
            <a:ext cx="15910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coches hay para hoy?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tiempo perdido, errores y resguardos de depósito sin un formato fijo.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8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GestorTaller nace para ordenar justo eso.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GestorTaller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7680960" y="4754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30352" cy="530352"/>
          </a:xfrm>
          <a:prstGeom prst="ellipse">
            <a:avLst/>
          </a:prstGeom>
          <a:solidFill>
            <a:srgbClr val="E07B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45720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274320"/>
            <a:ext cx="7543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solución, en una frase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FF4E6"/>
          </a:solidFill>
          <a:ln w="12700">
            <a:solidFill>
              <a:srgbClr val="F1DEC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23444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app web local para gestionar clientes, vehículos y órdenes de trabajo.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57200" y="265176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4E6"/>
          </a:solidFill>
          <a:ln w="12700">
            <a:solidFill>
              <a:srgbClr val="F1DEC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58368" y="285292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D9B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96265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8368" y="3364992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y vehículos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58368" y="3712464"/>
            <a:ext cx="22037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enlazado en una sola ficha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268980" y="265176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4E6"/>
          </a:solidFill>
          <a:ln w="12700">
            <a:solidFill>
              <a:srgbClr val="F1DEC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470148" y="285292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D9BC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876" y="2962656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70148" y="3364992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Resguardo en PDF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470148" y="3712464"/>
            <a:ext cx="22037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salida principal del sistema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080760" y="265176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4E6"/>
          </a:solidFill>
          <a:ln w="12700">
            <a:solidFill>
              <a:srgbClr val="F1DEC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281928" y="285292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D9BC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6" y="2962656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281928" y="3364992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Genérica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281928" y="3712464"/>
            <a:ext cx="22037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adapta en un único config.py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GestorTaller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7680960" y="4754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30352" cy="530352"/>
          </a:xfrm>
          <a:prstGeom prst="ellipse">
            <a:avLst/>
          </a:prstGeom>
          <a:solidFill>
            <a:srgbClr val="E07B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45720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274320"/>
            <a:ext cx="7543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FFF4E6"/>
          </a:solidFill>
          <a:ln w="12700">
            <a:solidFill>
              <a:srgbClr val="F1DEC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58368" y="148132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D9BC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591056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8368" y="1993392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Digitalizar la ficha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58368" y="2340864"/>
            <a:ext cx="3712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orden de trabajo clara y reutilizable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029200" y="128016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FFF4E6"/>
          </a:solidFill>
          <a:ln w="12700">
            <a:solidFill>
              <a:srgbClr val="F1DEC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230368" y="148132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D9BC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096" y="159105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30368" y="1993392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Resguardo en PDF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5230368" y="2340864"/>
            <a:ext cx="3712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 automáticamente, imprimible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57200" y="292608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FFF4E6"/>
          </a:solidFill>
          <a:ln w="12700">
            <a:solidFill>
              <a:srgbClr val="F1DEC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58368" y="312724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D9BC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323697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8368" y="3639312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reescribir datos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58368" y="3986784"/>
            <a:ext cx="3712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Autorrelleno por matrícula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029200" y="292608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FFF4E6"/>
          </a:solidFill>
          <a:ln w="12700">
            <a:solidFill>
              <a:srgbClr val="F1DEC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230368" y="312724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D9BC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0096" y="3236976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30368" y="3639312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Ejecutar sin instalar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5230368" y="3986784"/>
            <a:ext cx="3712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.exe que arranca con doble clic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GestorTaller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7680960" y="4754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30352" cy="530352"/>
          </a:xfrm>
          <a:prstGeom prst="ellipse">
            <a:avLst/>
          </a:prstGeom>
          <a:solidFill>
            <a:srgbClr val="E07B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45720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274320"/>
            <a:ext cx="7543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566928" cy="566928"/>
          </a:xfrm>
          <a:prstGeom prst="ellipse">
            <a:avLst/>
          </a:prstGeom>
          <a:solidFill>
            <a:srgbClr val="FFF4E6"/>
          </a:solidFill>
          <a:ln w="12700">
            <a:solidFill>
              <a:srgbClr val="F0D9BC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362456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70432" y="118872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Flask 3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170432" y="148132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y rutas (controladores)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57200" y="1892808"/>
            <a:ext cx="566928" cy="566928"/>
          </a:xfrm>
          <a:prstGeom prst="ellipse">
            <a:avLst/>
          </a:prstGeom>
          <a:solidFill>
            <a:srgbClr val="FFF4E6"/>
          </a:solidFill>
          <a:ln w="12700">
            <a:solidFill>
              <a:srgbClr val="F0D9BC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2048256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70432" y="187452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· sqlite3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1170432" y="216712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sin ORM, SQL bajo control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457200" y="2578608"/>
            <a:ext cx="566928" cy="566928"/>
          </a:xfrm>
          <a:prstGeom prst="ellipse">
            <a:avLst/>
          </a:prstGeom>
          <a:solidFill>
            <a:srgbClr val="FFF4E6"/>
          </a:solidFill>
          <a:ln w="12700">
            <a:solidFill>
              <a:srgbClr val="F0D9BC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2734056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70432" y="256032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5 + Chart.js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1170432" y="285292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responsive y gráficas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457200" y="3264408"/>
            <a:ext cx="566928" cy="566928"/>
          </a:xfrm>
          <a:prstGeom prst="ellipse">
            <a:avLst/>
          </a:prstGeom>
          <a:solidFill>
            <a:srgbClr val="FFF4E6"/>
          </a:solidFill>
          <a:ln w="12700">
            <a:solidFill>
              <a:srgbClr val="F0D9BC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3419856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70432" y="324612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ReportLab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1170432" y="353872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generado en memoria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457200" y="3950208"/>
            <a:ext cx="566928" cy="566928"/>
          </a:xfrm>
          <a:prstGeom prst="ellipse">
            <a:avLst/>
          </a:prstGeom>
          <a:solidFill>
            <a:srgbClr val="FFF4E6"/>
          </a:solidFill>
          <a:ln w="12700">
            <a:solidFill>
              <a:srgbClr val="F0D9BC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4105656"/>
            <a:ext cx="256032" cy="25603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170432" y="393192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Waitress + PyInstaller</a:t>
            </a:r>
            <a:endParaRPr lang="en-US" sz="1400" dirty="0"/>
          </a:p>
        </p:txBody>
      </p:sp>
      <p:sp>
        <p:nvSpPr>
          <p:cNvPr id="24" name="Text 16"/>
          <p:cNvSpPr/>
          <p:nvPr/>
        </p:nvSpPr>
        <p:spPr>
          <a:xfrm>
            <a:off x="1170432" y="422452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WSGI y empaquetado .exe</a:t>
            </a:r>
            <a:endParaRPr lang="en-US" sz="1150" dirty="0"/>
          </a:p>
        </p:txBody>
      </p:sp>
      <p:sp>
        <p:nvSpPr>
          <p:cNvPr id="25" name="Shape 17"/>
          <p:cNvSpPr/>
          <p:nvPr/>
        </p:nvSpPr>
        <p:spPr>
          <a:xfrm>
            <a:off x="5897880" y="1207008"/>
            <a:ext cx="2788920" cy="3136392"/>
          </a:xfrm>
          <a:prstGeom prst="roundRect">
            <a:avLst>
              <a:gd name="adj" fmla="val 2623"/>
            </a:avLst>
          </a:prstGeom>
          <a:solidFill>
            <a:srgbClr val="FFF4E6"/>
          </a:solidFill>
          <a:ln w="12700">
            <a:solidFill>
              <a:srgbClr val="F1DEC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6972300" y="1481328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D9BC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8896" y="1673352"/>
            <a:ext cx="256032" cy="25603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035040" y="22402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libre y estándar</a:t>
            </a:r>
            <a:endParaRPr lang="en-US" sz="1500" dirty="0"/>
          </a:p>
        </p:txBody>
      </p:sp>
      <p:sp>
        <p:nvSpPr>
          <p:cNvPr id="29" name="Text 20"/>
          <p:cNvSpPr/>
          <p:nvPr/>
        </p:nvSpPr>
        <p:spPr>
          <a:xfrm>
            <a:off x="6126480" y="267004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libre y del sector: lo mismo que se usa en proyectos reales.</a:t>
            </a:r>
            <a:endParaRPr lang="en-US" sz="1150" dirty="0"/>
          </a:p>
        </p:txBody>
      </p:sp>
      <p:sp>
        <p:nvSpPr>
          <p:cNvPr id="30" name="Text 21"/>
          <p:cNvSpPr/>
          <p:nvPr/>
        </p:nvSpPr>
        <p:spPr>
          <a:xfrm>
            <a:off x="6199632" y="36118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licencias de pago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y Chart.js por CDN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GestorTaller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7680960" y="4754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30352" cy="530352"/>
          </a:xfrm>
          <a:prstGeom prst="ellipse">
            <a:avLst/>
          </a:prstGeom>
          <a:solidFill>
            <a:srgbClr val="E07B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45720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274320"/>
            <a:ext cx="7543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por capas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3246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de responsabilidades</a:t>
            </a:r>
            <a:endParaRPr lang="en-US" sz="145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Controladores en 6 Blueprints</a:t>
            </a:r>
            <a:endParaRPr lang="en-US" sz="145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capa hace una sola cosa</a:t>
            </a:r>
            <a:endParaRPr lang="en-US" sz="145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fácil de mantener y ampliar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4160520" y="1188720"/>
            <a:ext cx="4572000" cy="603504"/>
          </a:xfrm>
          <a:prstGeom prst="roundRect">
            <a:avLst>
              <a:gd name="adj" fmla="val 9091"/>
            </a:avLst>
          </a:prstGeom>
          <a:solidFill>
            <a:srgbClr val="FFF0DE"/>
          </a:solidFill>
          <a:ln w="12700">
            <a:solidFill>
              <a:srgbClr val="E9CBA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43400" y="123444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760720" y="1234440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Jinja2 + static (CSS/JS)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160520" y="1901952"/>
            <a:ext cx="4572000" cy="603504"/>
          </a:xfrm>
          <a:prstGeom prst="roundRect">
            <a:avLst>
              <a:gd name="adj" fmla="val 9091"/>
            </a:avLst>
          </a:prstGeom>
          <a:solidFill>
            <a:srgbClr val="FBDDB8"/>
          </a:solidFill>
          <a:ln w="12700">
            <a:solidFill>
              <a:srgbClr val="E9CBA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43400" y="194767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760720" y="1947672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Blueprints · controladores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160520" y="2615184"/>
            <a:ext cx="4572000" cy="603504"/>
          </a:xfrm>
          <a:prstGeom prst="roundRect">
            <a:avLst>
              <a:gd name="adj" fmla="val 9091"/>
            </a:avLst>
          </a:prstGeom>
          <a:solidFill>
            <a:srgbClr val="F6C588"/>
          </a:solidFill>
          <a:ln w="12700">
            <a:solidFill>
              <a:srgbClr val="E9CBA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43400" y="266090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760720" y="2660904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· PDF · CSV · fotos · formato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160520" y="3328416"/>
            <a:ext cx="4572000" cy="603504"/>
          </a:xfrm>
          <a:prstGeom prst="roundRect">
            <a:avLst>
              <a:gd name="adj" fmla="val 9091"/>
            </a:avLst>
          </a:prstGeom>
          <a:solidFill>
            <a:srgbClr val="EFAE5B"/>
          </a:solidFill>
          <a:ln w="12700">
            <a:solidFill>
              <a:srgbClr val="E9CBA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43400" y="337413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760720" y="3374136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módulo por tabla + conexión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160520" y="4041648"/>
            <a:ext cx="4572000" cy="603504"/>
          </a:xfrm>
          <a:prstGeom prst="roundRect">
            <a:avLst>
              <a:gd name="adj" fmla="val 9091"/>
            </a:avLst>
          </a:prstGeom>
          <a:solidFill>
            <a:srgbClr val="E07B00"/>
          </a:solidFill>
          <a:ln w="12700">
            <a:solidFill>
              <a:srgbClr val="B862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43400" y="408736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760720" y="4087368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FE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· taller.db (esquema.sql)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GestorTaller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680960" y="4754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30352" cy="530352"/>
          </a:xfrm>
          <a:prstGeom prst="ellipse">
            <a:avLst/>
          </a:prstGeom>
          <a:solidFill>
            <a:srgbClr val="E07B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45720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274320"/>
            <a:ext cx="7543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datos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11480" y="1554480"/>
            <a:ext cx="164592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11480" y="1554480"/>
            <a:ext cx="1645920" cy="36576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1208" y="1920240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id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21208" y="2212848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dni / nie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21208" y="2505456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tel.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560320" y="1554480"/>
            <a:ext cx="173736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60320" y="1554480"/>
            <a:ext cx="1737360" cy="36576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51760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vehiculos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670048" y="1920240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id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670048" y="2212848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8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 ·UNIQUE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670048" y="2505456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cliente_id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00600" y="1371600"/>
            <a:ext cx="17830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800600" y="1371600"/>
            <a:ext cx="1783080" cy="36576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92040" y="1371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incidencias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910328" y="1737360"/>
            <a:ext cx="156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id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910328" y="2029968"/>
            <a:ext cx="156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8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·CHECK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910328" y="2322576"/>
            <a:ext cx="156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(ISO)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910328" y="2615184"/>
            <a:ext cx="156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vehiculo_id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315200" y="896112"/>
            <a:ext cx="150876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315200" y="896112"/>
            <a:ext cx="1508760" cy="36576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06640" y="89611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reparaciones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424928" y="1261872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id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424928" y="1554480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7424928" y="1847088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incid_id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315200" y="2880360"/>
            <a:ext cx="150876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315200" y="2880360"/>
            <a:ext cx="1508760" cy="36576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406640" y="28803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7424928" y="3246120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id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7424928" y="3538728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7424928" y="3831336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incid_id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2057400" y="2176272"/>
            <a:ext cx="502920" cy="0"/>
          </a:xfrm>
          <a:prstGeom prst="line">
            <a:avLst/>
          </a:prstGeom>
          <a:noFill/>
          <a:ln w="22225">
            <a:solidFill>
              <a:srgbClr val="B86200"/>
            </a:solidFill>
            <a:prstDash val="solid"/>
            <a:headEnd type="none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2025396" y="2057400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025396" y="205740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N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 flipV="1">
            <a:off x="4297680" y="2093976"/>
            <a:ext cx="502920" cy="82296"/>
          </a:xfrm>
          <a:prstGeom prst="line">
            <a:avLst/>
          </a:prstGeom>
          <a:noFill/>
          <a:ln w="22225">
            <a:solidFill>
              <a:srgbClr val="B86200"/>
            </a:solidFill>
            <a:prstDash val="solid"/>
            <a:headEnd type="none"/>
            <a:tailEnd type="triangle"/>
          </a:ln>
        </p:spPr>
      </p:sp>
      <p:sp>
        <p:nvSpPr>
          <p:cNvPr id="40" name="Shape 37"/>
          <p:cNvSpPr/>
          <p:nvPr/>
        </p:nvSpPr>
        <p:spPr>
          <a:xfrm>
            <a:off x="4265676" y="2039112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265676" y="203911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N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 flipV="1">
            <a:off x="6583680" y="1517904"/>
            <a:ext cx="731520" cy="301752"/>
          </a:xfrm>
          <a:prstGeom prst="line">
            <a:avLst/>
          </a:prstGeom>
          <a:noFill/>
          <a:ln w="22225">
            <a:solidFill>
              <a:srgbClr val="B86200"/>
            </a:solidFill>
            <a:prstDash val="solid"/>
            <a:headEnd type="none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6574536" y="1508760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574536" y="150876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N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6583680" y="2459736"/>
            <a:ext cx="731520" cy="1042416"/>
          </a:xfrm>
          <a:prstGeom prst="line">
            <a:avLst/>
          </a:prstGeom>
          <a:noFill/>
          <a:ln w="22225">
            <a:solidFill>
              <a:srgbClr val="B86200"/>
            </a:solidFill>
            <a:prstDash val="solid"/>
            <a:headEnd type="none"/>
            <a:tailEnd type="triangle"/>
          </a:ln>
        </p:spPr>
      </p:sp>
      <p:sp>
        <p:nvSpPr>
          <p:cNvPr id="46" name="Shape 43"/>
          <p:cNvSpPr/>
          <p:nvPr/>
        </p:nvSpPr>
        <p:spPr>
          <a:xfrm>
            <a:off x="6574536" y="2642616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574536" y="264261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N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457200" y="4315968"/>
            <a:ext cx="1324051" cy="310896"/>
          </a:xfrm>
          <a:prstGeom prst="roundRect">
            <a:avLst>
              <a:gd name="adj" fmla="val 50000"/>
            </a:avLst>
          </a:prstGeom>
          <a:solidFill>
            <a:srgbClr val="FFF4E6"/>
          </a:solidFill>
          <a:ln w="12700">
            <a:solidFill>
              <a:srgbClr val="EFD3AE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57200" y="4315968"/>
            <a:ext cx="132405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 UNIQUE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1964131" y="4315968"/>
            <a:ext cx="1324051" cy="310896"/>
          </a:xfrm>
          <a:prstGeom prst="roundRect">
            <a:avLst>
              <a:gd name="adj" fmla="val 50000"/>
            </a:avLst>
          </a:prstGeom>
          <a:solidFill>
            <a:srgbClr val="FFF4E6"/>
          </a:solidFill>
          <a:ln w="12700">
            <a:solidFill>
              <a:srgbClr val="EFD3AE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964131" y="4315968"/>
            <a:ext cx="132405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con CHECK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3471062" y="4315968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4E6"/>
          </a:solidFill>
          <a:ln w="12700">
            <a:solidFill>
              <a:srgbClr val="EFD3AE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3471062" y="431596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DELETE CASCADE (fotos y reparaciones)</a:t>
            </a:r>
            <a:endParaRPr lang="en-US" sz="1050" dirty="0"/>
          </a:p>
        </p:txBody>
      </p:sp>
      <p:sp>
        <p:nvSpPr>
          <p:cNvPr id="54" name="Text 5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GestorTaller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7680960" y="4754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2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1371600"/>
            <a:ext cx="1097280" cy="1097280"/>
          </a:xfrm>
          <a:prstGeom prst="ellipse">
            <a:avLst/>
          </a:prstGeom>
          <a:solidFill>
            <a:srgbClr val="E07B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3984" y="17830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651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Demostración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9B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vivo, sobre la aplicación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30352" cy="530352"/>
          </a:xfrm>
          <a:prstGeom prst="ellipse">
            <a:avLst/>
          </a:prstGeom>
          <a:solidFill>
            <a:srgbClr val="E07B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45720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274320"/>
            <a:ext cx="7543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técnicas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2715768" cy="2331720"/>
          </a:xfrm>
          <a:prstGeom prst="roundRect">
            <a:avLst>
              <a:gd name="adj" fmla="val 3137"/>
            </a:avLst>
          </a:prstGeom>
          <a:solidFill>
            <a:srgbClr val="FFF4E6"/>
          </a:solidFill>
          <a:ln w="12700">
            <a:solidFill>
              <a:srgbClr val="F1DEC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58368" y="148132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D9BC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591056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8368" y="1993392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en servidor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58368" y="2340864"/>
            <a:ext cx="231343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 de control del DNI/NIE y matrícula española. El JS solo es comodidad.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3419856" y="1280160"/>
            <a:ext cx="2715768" cy="2331720"/>
          </a:xfrm>
          <a:prstGeom prst="roundRect">
            <a:avLst>
              <a:gd name="adj" fmla="val 3137"/>
            </a:avLst>
          </a:prstGeom>
          <a:solidFill>
            <a:srgbClr val="FFF4E6"/>
          </a:solidFill>
          <a:ln w="12700">
            <a:solidFill>
              <a:srgbClr val="F1DEC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621024" y="148132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D9BC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0752" y="159105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21024" y="1993392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de datos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621024" y="2340864"/>
            <a:ext cx="231343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siempre parametrizado (?) y transacciones con commit / rollback.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382512" y="1280160"/>
            <a:ext cx="2715768" cy="2331720"/>
          </a:xfrm>
          <a:prstGeom prst="roundRect">
            <a:avLst>
              <a:gd name="adj" fmla="val 3137"/>
            </a:avLst>
          </a:prstGeom>
          <a:solidFill>
            <a:srgbClr val="FFF4E6"/>
          </a:solidFill>
          <a:ln w="12700">
            <a:solidFill>
              <a:srgbClr val="F1DEC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583680" y="148132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D9BC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159105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83680" y="1993392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Ejecutable .exe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583680" y="2340864"/>
            <a:ext cx="231343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clic y a funcionar; el tribunal no instala nada.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57200" y="3840480"/>
            <a:ext cx="8229600" cy="566928"/>
          </a:xfrm>
          <a:prstGeom prst="roundRect">
            <a:avLst>
              <a:gd name="adj" fmla="val 50000"/>
            </a:avLst>
          </a:prstGeom>
          <a:solidFill>
            <a:srgbClr val="FBE7CC"/>
          </a:solidFill>
          <a:ln w="12700">
            <a:solidFill>
              <a:srgbClr val="EFD3AE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40080" y="38404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B8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decisiones pensadas para la nota: robustez, seguridad y facilidad de uso.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GestorTaller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7680960" y="4754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30352" cy="530352"/>
          </a:xfrm>
          <a:prstGeom prst="ellipse">
            <a:avLst/>
          </a:prstGeom>
          <a:solidFill>
            <a:srgbClr val="E07B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45720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274320"/>
            <a:ext cx="7543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y líneas futuras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3977640" cy="3063240"/>
          </a:xfrm>
          <a:prstGeom prst="roundRect">
            <a:avLst>
              <a:gd name="adj" fmla="val 2388"/>
            </a:avLst>
          </a:prstGeom>
          <a:solidFill>
            <a:srgbClr val="FAF7F4"/>
          </a:solidFill>
          <a:ln w="12700">
            <a:solidFill>
              <a:srgbClr val="E6DAD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rgbClr val="E07B0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1700784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15727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aprendido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777240" y="233172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Estructurar una app por capas</a:t>
            </a:r>
            <a:endParaRPr lang="en-US" sz="13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Trabajar la seguridad de los datos</a:t>
            </a:r>
            <a:endParaRPr lang="en-US" sz="13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Empaquetar y distribuir software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709160" y="1280160"/>
            <a:ext cx="3977640" cy="3063240"/>
          </a:xfrm>
          <a:prstGeom prst="roundRect">
            <a:avLst>
              <a:gd name="adj" fmla="val 2388"/>
            </a:avLst>
          </a:prstGeom>
          <a:solidFill>
            <a:srgbClr val="FAF7F4"/>
          </a:solidFill>
          <a:ln w="12700">
            <a:solidFill>
              <a:srgbClr val="E6DAD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83480" y="1554480"/>
            <a:ext cx="548640" cy="548640"/>
          </a:xfrm>
          <a:prstGeom prst="ellipse">
            <a:avLst/>
          </a:prstGeom>
          <a:solidFill>
            <a:srgbClr val="E07B0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9784" y="1700784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69280" y="15727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Líneas futuras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5029200" y="233172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de usuarios</a:t>
            </a:r>
            <a:endParaRPr lang="en-US" sz="13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precios y piezas</a:t>
            </a:r>
            <a:endParaRPr lang="en-US" sz="13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Mejores gráficas: ingresos y pérdidas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GestorTaller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7680960" y="4754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07B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6126480" y="1920240"/>
            <a:ext cx="3108960" cy="3108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325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¡Gracias!</a:t>
            </a:r>
            <a:endParaRPr lang="en-US" sz="5000" dirty="0"/>
          </a:p>
        </p:txBody>
      </p:sp>
      <p:sp>
        <p:nvSpPr>
          <p:cNvPr id="4" name="Text 1"/>
          <p:cNvSpPr/>
          <p:nvPr/>
        </p:nvSpPr>
        <p:spPr>
          <a:xfrm>
            <a:off x="658368" y="2377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640080" y="3520440"/>
            <a:ext cx="676656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361188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IA:  </a:t>
            </a:r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apoyo puntual en la hoja de estilos CSS, en la plantilla del PDF del resguardo y en el empaquetado a .exe. El resto es trabajo propio.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Taller de Ejemplo, S.L.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GestorTaller — TFG DAM</dc:title>
  <dc:subject>PptxGenJS Presentation</dc:subject>
  <dc:creator>Alain Blanquies Marco</dc:creator>
  <cp:lastModifiedBy>Alain Blanquies Marco</cp:lastModifiedBy>
  <cp:revision>1</cp:revision>
  <dcterms:created xsi:type="dcterms:W3CDTF">2026-06-22T16:35:49Z</dcterms:created>
  <dcterms:modified xsi:type="dcterms:W3CDTF">2026-06-22T16:35:49Z</dcterms:modified>
</cp:coreProperties>
</file>